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91440" cy="6858000"/>
          </a:xfrm>
          <a:prstGeom prst="rect">
            <a:avLst/>
          </a:prstGeom>
          <a:solidFill>
            <a:srgbClr val="263238"/>
          </a:solidFill>
          <a:ln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42269" y="733413"/>
            <a:ext cx="2722099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dirty="0">
                <a:solidFill>
                  <a:srgbClr val="F26B21"/>
                </a:solidFill>
                <a:latin typeface="Aptos"/>
              </a:rPr>
              <a:t>AUTOCOM-26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80988"/>
            <a:ext cx="5803392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63238"/>
                </a:solidFill>
                <a:latin typeface="Aptos"/>
              </a:rPr>
              <a:t>4th International Conference on
Automation and Computation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70048"/>
            <a:ext cx="6949440" cy="27432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600450"/>
            <a:ext cx="88696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 dirty="0">
                <a:solidFill>
                  <a:srgbClr val="191E22"/>
                </a:solidFill>
                <a:latin typeface="Aptos"/>
              </a:rPr>
              <a:t>[Paper Title]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804672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263238"/>
                </a:solidFill>
                <a:latin typeface="Aptos"/>
              </a:rPr>
              <a:t>[Author 1], [Author 2], [Author 3]
[Affiliation / Institution]
[Email of Presenting Author]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8932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5C686E"/>
                </a:solidFill>
                <a:latin typeface="Aptos"/>
              </a:rPr>
              <a:t>22–24 October 2026  •  Dehradun, Uttarakhand, 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5074920"/>
            <a:ext cx="2834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 b="1">
                <a:solidFill>
                  <a:srgbClr val="263238"/>
                </a:solidFill>
                <a:latin typeface="Aptos"/>
              </a:rPr>
              <a:t>Graphic Era Hill University
Department of 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5806440"/>
            <a:ext cx="28346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0">
                <a:solidFill>
                  <a:srgbClr val="5C686E"/>
                </a:solidFill>
                <a:latin typeface="Aptos"/>
              </a:rPr>
              <a:t>IEEE Uttar Pradesh Section
Technically Co-Sponsored</a:t>
            </a:r>
          </a:p>
        </p:txBody>
      </p:sp>
      <p:pic>
        <p:nvPicPr>
          <p:cNvPr id="14" name="Picture 13" descr="AutoCom">
            <a:extLst>
              <a:ext uri="{FF2B5EF4-FFF2-40B4-BE49-F238E27FC236}">
                <a16:creationId xmlns:a16="http://schemas.microsoft.com/office/drawing/2014/main" id="{F2D17EB9-9269-1040-8871-F9F1E37E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52" y="257118"/>
            <a:ext cx="1155197" cy="1137171"/>
          </a:xfrm>
          <a:prstGeom prst="rect">
            <a:avLst/>
          </a:prstGeom>
        </p:spPr>
      </p:pic>
      <p:pic>
        <p:nvPicPr>
          <p:cNvPr id="15" name="Picture 14" descr="GEHU">
            <a:extLst>
              <a:ext uri="{FF2B5EF4-FFF2-40B4-BE49-F238E27FC236}">
                <a16:creationId xmlns:a16="http://schemas.microsoft.com/office/drawing/2014/main" id="{225B6620-17AC-720B-67DC-719CBAC21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738" y="93785"/>
            <a:ext cx="1303278" cy="1298107"/>
          </a:xfrm>
          <a:prstGeom prst="rect">
            <a:avLst/>
          </a:prstGeom>
        </p:spPr>
      </p:pic>
      <p:pic>
        <p:nvPicPr>
          <p:cNvPr id="16" name="Picture 15" descr="IEEE UP Section">
            <a:extLst>
              <a:ext uri="{FF2B5EF4-FFF2-40B4-BE49-F238E27FC236}">
                <a16:creationId xmlns:a16="http://schemas.microsoft.com/office/drawing/2014/main" id="{68568573-5AF3-0811-3EF6-B85D66D20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303" y="261564"/>
            <a:ext cx="2365375" cy="973674"/>
          </a:xfrm>
          <a:prstGeom prst="rect">
            <a:avLst/>
          </a:prstGeom>
        </p:spPr>
      </p:pic>
      <p:pic>
        <p:nvPicPr>
          <p:cNvPr id="17" name="Picture 16" descr="DRDO">
            <a:extLst>
              <a:ext uri="{FF2B5EF4-FFF2-40B4-BE49-F238E27FC236}">
                <a16:creationId xmlns:a16="http://schemas.microsoft.com/office/drawing/2014/main" id="{77BA6D89-9E75-808B-F520-501477CA5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847" y="155770"/>
            <a:ext cx="1303278" cy="12312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Presentation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74519"/>
            <a:ext cx="960120" cy="960120"/>
          </a:xfrm>
          <a:prstGeom prst="round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35808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63238"/>
                </a:solidFill>
                <a:latin typeface="Aptos"/>
              </a:rPr>
              <a:t>Problem &amp; Motivation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20" y="2359152"/>
            <a:ext cx="1097280" cy="0"/>
          </a:xfrm>
          <a:prstGeom prst="line">
            <a:avLst/>
          </a:prstGeom>
          <a:ln w="254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874519"/>
            <a:ext cx="960120" cy="960120"/>
          </a:xfrm>
          <a:prstGeom prst="roundRect">
            <a:avLst/>
          </a:prstGeom>
          <a:solidFill>
            <a:srgbClr val="FDEFE6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874519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6B2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035808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63238"/>
                </a:solidFill>
                <a:latin typeface="Aptos"/>
              </a:rPr>
              <a:t>Methodology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6200" y="2359152"/>
            <a:ext cx="1097280" cy="0"/>
          </a:xfrm>
          <a:prstGeom prst="line">
            <a:avLst/>
          </a:prstGeom>
          <a:ln w="254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874519"/>
            <a:ext cx="960120" cy="960120"/>
          </a:xfrm>
          <a:prstGeom prst="roundRect">
            <a:avLst/>
          </a:prstGeom>
          <a:solidFill>
            <a:srgbClr val="FDEFE6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1874519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6B2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35808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63238"/>
                </a:solidFill>
                <a:latin typeface="Aptos"/>
              </a:rPr>
              <a:t>Results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0" y="2359152"/>
            <a:ext cx="1097280" cy="0"/>
          </a:xfrm>
          <a:prstGeom prst="line">
            <a:avLst/>
          </a:prstGeom>
          <a:ln w="254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0" y="1874519"/>
            <a:ext cx="960120" cy="960120"/>
          </a:xfrm>
          <a:prstGeom prst="roundRect">
            <a:avLst/>
          </a:prstGeom>
          <a:solidFill>
            <a:srgbClr val="FDEFE6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1874519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6B21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035808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63238"/>
                </a:solidFill>
                <a:latin typeface="Aptos"/>
              </a:rPr>
              <a:t>Discussion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66760" y="2359152"/>
            <a:ext cx="1097280" cy="0"/>
          </a:xfrm>
          <a:prstGeom prst="line">
            <a:avLst/>
          </a:prstGeom>
          <a:ln w="254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46920" y="1874519"/>
            <a:ext cx="960120" cy="960120"/>
          </a:xfrm>
          <a:prstGeom prst="roundRect">
            <a:avLst/>
          </a:prstGeom>
          <a:solidFill>
            <a:srgbClr val="FDEFE6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20" y="1874519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6B21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035808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63238"/>
                </a:solidFill>
                <a:latin typeface="Aptos"/>
              </a:rPr>
              <a:t>Conclusion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5C686E"/>
                </a:solidFill>
                <a:latin typeface="Aptos"/>
              </a:rPr>
              <a:t>Tip: Keep each slide focused on one message. Replace all bracketed placeholders before presenting.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238"/>
          </a:solidFill>
          <a:ln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972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26B21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81381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Problem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88036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D2DADE"/>
                </a:solidFill>
                <a:latin typeface="Aptos"/>
              </a:rPr>
              <a:t>Context • Research Gap •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3840480"/>
            <a:ext cx="2743200" cy="4572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26B21"/>
                </a:solidFill>
                <a:latin typeface="Aptos"/>
              </a:rPr>
              <a:t>AUTOCOM-26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349240"/>
            <a:ext cx="3200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2DADE"/>
                </a:solidFill>
                <a:latin typeface="Aptos"/>
              </a:rPr>
              <a:t>22–24 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234440"/>
            <a:ext cx="4846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26B21"/>
                </a:solidFill>
                <a:latin typeface="Aptos"/>
              </a:rPr>
              <a:t>Research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45773"/>
            <a:ext cx="465218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191E22"/>
                </a:solidFill>
                <a:latin typeface="Aptos"/>
              </a:rPr>
              <a:t>[Briefly describe the problem, context, and why it matters.]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34440"/>
            <a:ext cx="4846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26B21"/>
                </a:solidFill>
                <a:latin typeface="Aptos"/>
              </a:rPr>
              <a:t>Research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000637"/>
            <a:ext cx="465218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191E22"/>
                </a:solidFill>
                <a:latin typeface="Aptos"/>
              </a:rPr>
              <a:t>[What is missing or insufficient in existing approaches?]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703320"/>
            <a:ext cx="10607040" cy="178308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63238"/>
                </a:solidFill>
                <a:latin typeface="Aptos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9601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1E22"/>
                </a:solidFill>
                <a:latin typeface="Aptos"/>
              </a:defRPr>
            </a:pPr>
            <a:r>
              <a:t>• Objective 1: …</a:t>
            </a:r>
          </a:p>
          <a:p>
            <a:pPr>
              <a:spcAft>
                <a:spcPts val="1000"/>
              </a:spcAft>
              <a:defRPr sz="1500">
                <a:solidFill>
                  <a:srgbClr val="191E22"/>
                </a:solidFill>
                <a:latin typeface="Aptos"/>
              </a:defRPr>
            </a:pPr>
            <a:r>
              <a:t>• Objective 2: …</a:t>
            </a:r>
          </a:p>
          <a:p>
            <a:pPr>
              <a:spcAft>
                <a:spcPts val="1000"/>
              </a:spcAft>
              <a:defRPr sz="1500">
                <a:solidFill>
                  <a:srgbClr val="191E22"/>
                </a:solidFill>
                <a:latin typeface="Aptos"/>
              </a:defRPr>
            </a:pPr>
            <a:r>
              <a:t>• Objective 3: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874519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26B2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15087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Input /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1" y="2221992"/>
            <a:ext cx="411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26B21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874519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08376" y="19659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26B2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395728"/>
            <a:ext cx="15087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Pre-processing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221992"/>
            <a:ext cx="411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26B21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874519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2664" y="19659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26B2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395728"/>
            <a:ext cx="15087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Proposed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221992"/>
            <a:ext cx="411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26B2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7224" y="1874519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16952" y="19659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26B21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2395728"/>
            <a:ext cx="15087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2221992"/>
            <a:ext cx="411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26B2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11512" y="1874519"/>
            <a:ext cx="1783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1965960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F26B21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2395728"/>
            <a:ext cx="15087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977639"/>
            <a:ext cx="9235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5C686E"/>
                </a:solidFill>
                <a:latin typeface="Aptos"/>
              </a:rPr>
              <a:t>[Insert architecture / workflow / system diagram here]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4709160"/>
            <a:ext cx="8458200" cy="777240"/>
          </a:xfrm>
          <a:prstGeom prst="roundRect">
            <a:avLst/>
          </a:prstGeom>
          <a:solidFill>
            <a:srgbClr val="FDEFE6"/>
          </a:solidFill>
          <a:ln>
            <a:solidFill>
              <a:srgbClr val="FD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0" y="4709160"/>
            <a:ext cx="809244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63238"/>
                </a:solidFill>
                <a:latin typeface="Aptos"/>
              </a:rPr>
              <a:t>Key design choice: [one sentence explaining the central methodological contribution]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Experimental Setup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234440"/>
            <a:ext cx="5074920" cy="44348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26B21"/>
                </a:solidFill>
                <a:latin typeface="Aptos"/>
              </a:rPr>
              <a:t>Dataset / Hardware /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4348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1E22"/>
                </a:solidFill>
                <a:latin typeface="Aptos"/>
              </a:defRPr>
            </a:pPr>
            <a:r>
              <a:t>• Dataset: [name, size, source]</a:t>
            </a:r>
          </a:p>
          <a:p>
            <a:pPr>
              <a:spcAft>
                <a:spcPts val="1000"/>
              </a:spcAft>
              <a:defRPr sz="1500">
                <a:solidFill>
                  <a:srgbClr val="191E22"/>
                </a:solidFill>
                <a:latin typeface="Aptos"/>
              </a:defRPr>
            </a:pPr>
            <a:r>
              <a:t>• Hardware: [CPU/GPU/edge device]</a:t>
            </a:r>
          </a:p>
          <a:p>
            <a:pPr>
              <a:spcAft>
                <a:spcPts val="1000"/>
              </a:spcAft>
              <a:defRPr sz="1500">
                <a:solidFill>
                  <a:srgbClr val="191E22"/>
                </a:solidFill>
                <a:latin typeface="Aptos"/>
              </a:defRPr>
            </a:pPr>
            <a:r>
              <a:t>• Software: [Python / MATLAB / tools]</a:t>
            </a:r>
          </a:p>
          <a:p>
            <a:pPr>
              <a:spcAft>
                <a:spcPts val="1000"/>
              </a:spcAft>
              <a:defRPr sz="1500">
                <a:solidFill>
                  <a:srgbClr val="191E22"/>
                </a:solidFill>
                <a:latin typeface="Aptos"/>
              </a:defRPr>
            </a:pPr>
            <a:r>
              <a:t>• Train–test split: [e.g., 80:20]</a:t>
            </a:r>
          </a:p>
          <a:p>
            <a:pPr>
              <a:spcAft>
                <a:spcPts val="1000"/>
              </a:spcAft>
              <a:defRPr sz="1500">
                <a:solidFill>
                  <a:srgbClr val="191E22"/>
                </a:solidFill>
                <a:latin typeface="Aptos"/>
              </a:defRPr>
            </a:pPr>
            <a:r>
              <a:t>• Key parameters: [learning rate, epochs, etc.]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23444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26B21"/>
                </a:solidFill>
                <a:latin typeface="Aptos"/>
              </a:rPr>
              <a:t>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011680"/>
            <a:ext cx="4526280" cy="502920"/>
          </a:xfrm>
          <a:prstGeom prst="rect">
            <a:avLst/>
          </a:prstGeom>
          <a:solidFill>
            <a:srgbClr val="263238"/>
          </a:solidFill>
          <a:ln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2011680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011680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578608"/>
            <a:ext cx="4526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578608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91E22"/>
                </a:solidFill>
                <a:latin typeface="Aptos"/>
              </a:rPr>
              <a:t>[Parameter 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578608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91E22"/>
                </a:solidFill>
                <a:latin typeface="Aptos"/>
              </a:rPr>
              <a:t>[Value]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145536"/>
            <a:ext cx="4526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145536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91E22"/>
                </a:solidFill>
                <a:latin typeface="Aptos"/>
              </a:rPr>
              <a:t>[Parameter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3145536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91E22"/>
                </a:solidFill>
                <a:latin typeface="Aptos"/>
              </a:rPr>
              <a:t>[Value]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712464"/>
            <a:ext cx="4526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3712464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91E22"/>
                </a:solidFill>
                <a:latin typeface="Aptos"/>
              </a:rPr>
              <a:t>[Parameter 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3712464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91E22"/>
                </a:solidFill>
                <a:latin typeface="Aptos"/>
              </a:rPr>
              <a:t>[Value]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279392"/>
            <a:ext cx="4526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279392"/>
            <a:ext cx="21488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91E22"/>
                </a:solidFill>
                <a:latin typeface="Aptos"/>
              </a:rPr>
              <a:t>[Parameter 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12" y="4279392"/>
            <a:ext cx="2057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191E22"/>
                </a:solidFill>
                <a:latin typeface="Aptos"/>
              </a:rPr>
              <a:t>[Value]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234440"/>
            <a:ext cx="4572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26B21"/>
                </a:solidFill>
                <a:latin typeface="Aptos"/>
              </a:rPr>
              <a:t>Key Performance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331720" cy="10515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5C686E"/>
                </a:solidFill>
                <a:latin typeface="Aptos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86000"/>
            <a:ext cx="2331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263238"/>
                </a:solidFill>
                <a:latin typeface="Aptos"/>
              </a:rPr>
              <a:t>[XX.X%]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83080"/>
            <a:ext cx="2331720" cy="10515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1938528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5C686E"/>
                </a:solidFill>
                <a:latin typeface="Aptos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286000"/>
            <a:ext cx="2331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263238"/>
                </a:solidFill>
                <a:latin typeface="Aptos"/>
              </a:rPr>
              <a:t>[XX.X%]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783080"/>
            <a:ext cx="2331720" cy="10515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938528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5C686E"/>
                </a:solidFill>
                <a:latin typeface="Aptos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286000"/>
            <a:ext cx="2331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263238"/>
                </a:solidFill>
                <a:latin typeface="Aptos"/>
              </a:rPr>
              <a:t>[XX.X%]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783080"/>
            <a:ext cx="2331720" cy="10515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87968" y="1938528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>
                <a:solidFill>
                  <a:srgbClr val="5C686E"/>
                </a:solidFill>
                <a:latin typeface="Aptos"/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2286000"/>
            <a:ext cx="2331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263238"/>
                </a:solidFill>
                <a:latin typeface="Aptos"/>
              </a:rPr>
              <a:t>[XX.X]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0">
                <a:solidFill>
                  <a:srgbClr val="5C686E"/>
                </a:solidFill>
                <a:latin typeface="Aptos"/>
              </a:rPr>
              <a:t>Insert your main figure / graph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94760"/>
            <a:ext cx="65379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143000" y="5074920"/>
            <a:ext cx="5760720" cy="0"/>
          </a:xfrm>
          <a:prstGeom prst="line">
            <a:avLst/>
          </a:prstGeom>
          <a:ln w="1651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43000" y="4069080"/>
            <a:ext cx="0" cy="1005840"/>
          </a:xfrm>
          <a:prstGeom prst="line">
            <a:avLst/>
          </a:prstGeom>
          <a:ln w="1651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508760" y="4663440"/>
            <a:ext cx="502920" cy="41148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68880" y="4297680"/>
            <a:ext cx="502920" cy="7772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29000" y="4507992"/>
            <a:ext cx="502920" cy="566928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502920" cy="96012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49240" y="4361688"/>
            <a:ext cx="502920" cy="713232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3886200"/>
            <a:ext cx="30175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263238"/>
                </a:solidFill>
                <a:latin typeface="Aptos"/>
              </a:rPr>
              <a:t>Compare against baseline / existing methods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617720"/>
            <a:ext cx="297180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191E22"/>
                </a:solidFill>
                <a:latin typeface="Aptos"/>
              </a:rPr>
              <a:t>[State the most important quantitative finding in one sentence.]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170432"/>
            <a:ext cx="4572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26B21"/>
                </a:solidFill>
                <a:latin typeface="Aptos"/>
              </a:rPr>
              <a:t>Method / Model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017520" cy="621792"/>
          </a:xfrm>
          <a:prstGeom prst="rect">
            <a:avLst/>
          </a:prstGeom>
          <a:solidFill>
            <a:srgbClr val="263238"/>
          </a:solidFill>
          <a:ln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3017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75887" y="1783080"/>
            <a:ext cx="1691640" cy="621792"/>
          </a:xfrm>
          <a:prstGeom prst="rect">
            <a:avLst/>
          </a:prstGeom>
          <a:solidFill>
            <a:srgbClr val="263238"/>
          </a:solidFill>
          <a:ln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7" y="1783080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67527" y="1783080"/>
            <a:ext cx="1691640" cy="621792"/>
          </a:xfrm>
          <a:prstGeom prst="rect">
            <a:avLst/>
          </a:prstGeom>
          <a:solidFill>
            <a:srgbClr val="263238"/>
          </a:solidFill>
          <a:ln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67527" y="1783080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9167" y="1783080"/>
            <a:ext cx="1691640" cy="621792"/>
          </a:xfrm>
          <a:prstGeom prst="rect">
            <a:avLst/>
          </a:prstGeom>
          <a:solidFill>
            <a:srgbClr val="263238"/>
          </a:solidFill>
          <a:ln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9167" y="1783080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0807" y="1783080"/>
            <a:ext cx="1691640" cy="621792"/>
          </a:xfrm>
          <a:prstGeom prst="rect">
            <a:avLst/>
          </a:prstGeom>
          <a:solidFill>
            <a:srgbClr val="263238"/>
          </a:solidFill>
          <a:ln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50807" y="1783080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441448"/>
            <a:ext cx="3017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441448"/>
            <a:ext cx="3017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Baseline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75887" y="2441448"/>
            <a:ext cx="1691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7" y="2441448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67527" y="2441448"/>
            <a:ext cx="1691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67527" y="2441448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9167" y="2441448"/>
            <a:ext cx="1691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59167" y="2441448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50807" y="2441448"/>
            <a:ext cx="1691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50807" y="2441448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099815"/>
            <a:ext cx="30175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3099815"/>
            <a:ext cx="3017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Baseline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5887" y="3099815"/>
            <a:ext cx="1691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75887" y="3099815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67527" y="3099815"/>
            <a:ext cx="1691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67527" y="3099815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9167" y="3099815"/>
            <a:ext cx="1691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9167" y="3099815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50807" y="3099815"/>
            <a:ext cx="1691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50807" y="3099815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0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758184"/>
            <a:ext cx="3017520" cy="621792"/>
          </a:xfrm>
          <a:prstGeom prst="rect">
            <a:avLst/>
          </a:prstGeom>
          <a:solidFill>
            <a:srgbClr val="FDEFE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3758184"/>
            <a:ext cx="301752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91E22"/>
                </a:solidFill>
                <a:latin typeface="Aptos"/>
              </a:rPr>
              <a:t>Proposed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75887" y="3758184"/>
            <a:ext cx="1691640" cy="621792"/>
          </a:xfrm>
          <a:prstGeom prst="rect">
            <a:avLst/>
          </a:prstGeom>
          <a:solidFill>
            <a:srgbClr val="FDEFE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75887" y="3758184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67527" y="3758184"/>
            <a:ext cx="1691640" cy="621792"/>
          </a:xfrm>
          <a:prstGeom prst="rect">
            <a:avLst/>
          </a:prstGeom>
          <a:solidFill>
            <a:srgbClr val="FDEFE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67527" y="3758184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9167" y="3758184"/>
            <a:ext cx="1691640" cy="621792"/>
          </a:xfrm>
          <a:prstGeom prst="rect">
            <a:avLst/>
          </a:prstGeom>
          <a:solidFill>
            <a:srgbClr val="FDEFE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59167" y="3758184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50807" y="3758184"/>
            <a:ext cx="1691640" cy="621792"/>
          </a:xfrm>
          <a:prstGeom prst="rect">
            <a:avLst/>
          </a:prstGeom>
          <a:solidFill>
            <a:srgbClr val="FDEFE6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50807" y="3758184"/>
            <a:ext cx="169164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91E22"/>
                </a:solidFill>
                <a:latin typeface="Aptos"/>
              </a:rPr>
              <a:t>[ 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4892040"/>
            <a:ext cx="10104120" cy="7772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4892040"/>
            <a:ext cx="96012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50" b="1">
                <a:solidFill>
                  <a:srgbClr val="263238"/>
                </a:solidFill>
                <a:latin typeface="Aptos"/>
              </a:rPr>
              <a:t>Takeaway: [Explain what the comparison demonstrates rather than reading the table aloud.]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Discussion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325880"/>
            <a:ext cx="105613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325880"/>
            <a:ext cx="128016" cy="1078992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90472"/>
            <a:ext cx="1828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26B21"/>
                </a:solidFill>
                <a:latin typeface="Aptos"/>
              </a:rPr>
              <a:t>Finding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35607"/>
            <a:ext cx="795527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0">
                <a:solidFill>
                  <a:srgbClr val="191E22"/>
                </a:solidFill>
                <a:latin typeface="Aptos"/>
              </a:rPr>
              <a:t>[Main observation and interpretation]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743200"/>
            <a:ext cx="105613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743200"/>
            <a:ext cx="128016" cy="1078992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2"/>
            <a:ext cx="1828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26B21"/>
                </a:solidFill>
                <a:latin typeface="Aptos"/>
              </a:rPr>
              <a:t>Finding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52928"/>
            <a:ext cx="795527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0">
                <a:solidFill>
                  <a:srgbClr val="191E22"/>
                </a:solidFill>
                <a:latin typeface="Aptos"/>
              </a:rPr>
              <a:t>[Second important observation]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160520"/>
            <a:ext cx="105613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4160520"/>
            <a:ext cx="128016" cy="1078992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325112"/>
            <a:ext cx="1828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26B21"/>
                </a:solidFill>
                <a:latin typeface="Aptos"/>
              </a:rPr>
              <a:t>Finding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270248"/>
            <a:ext cx="795527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50" b="0">
                <a:solidFill>
                  <a:srgbClr val="191E22"/>
                </a:solidFill>
                <a:latin typeface="Aptos"/>
              </a:rPr>
              <a:t>[Implication / practical significance]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261872"/>
            <a:ext cx="5074920" cy="44348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297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26B21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4389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91E22"/>
                </a:solidFill>
                <a:latin typeface="Aptos"/>
              </a:defRPr>
            </a:pPr>
            <a:r>
              <a:t>• [Contribution 1]</a:t>
            </a:r>
          </a:p>
          <a:p>
            <a:pPr>
              <a:spcAft>
                <a:spcPts val="1000"/>
              </a:spcAft>
              <a:defRPr sz="1600">
                <a:solidFill>
                  <a:srgbClr val="191E22"/>
                </a:solidFill>
                <a:latin typeface="Aptos"/>
              </a:defRPr>
            </a:pPr>
            <a:r>
              <a:t>• [Contribution 2]</a:t>
            </a:r>
          </a:p>
          <a:p>
            <a:pPr>
              <a:spcAft>
                <a:spcPts val="1000"/>
              </a:spcAft>
              <a:defRPr sz="1600">
                <a:solidFill>
                  <a:srgbClr val="191E22"/>
                </a:solidFill>
                <a:latin typeface="Aptos"/>
              </a:defRPr>
            </a:pPr>
            <a:r>
              <a:t>• [Key result]</a:t>
            </a:r>
          </a:p>
          <a:p>
            <a:pPr>
              <a:spcAft>
                <a:spcPts val="1000"/>
              </a:spcAft>
              <a:defRPr sz="1600">
                <a:solidFill>
                  <a:srgbClr val="191E22"/>
                </a:solidFill>
                <a:latin typeface="Aptos"/>
              </a:defRPr>
            </a:pPr>
            <a:r>
              <a:t>• [Practical / scientific implication]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61872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36192"/>
            <a:ext cx="4297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26B21"/>
                </a:solidFill>
                <a:latin typeface="Aptos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84831"/>
            <a:ext cx="43891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91E22"/>
                </a:solidFill>
                <a:latin typeface="Aptos"/>
              </a:defRPr>
            </a:pPr>
            <a:r>
              <a:t>• [Extension / larger dataset]</a:t>
            </a:r>
          </a:p>
          <a:p>
            <a:pPr>
              <a:spcAft>
                <a:spcPts val="1000"/>
              </a:spcAft>
              <a:defRPr sz="1600">
                <a:solidFill>
                  <a:srgbClr val="191E22"/>
                </a:solidFill>
                <a:latin typeface="Aptos"/>
              </a:defRPr>
            </a:pPr>
            <a:r>
              <a:t>• [Real-time / deployment improvement]</a:t>
            </a:r>
          </a:p>
          <a:p>
            <a:pPr>
              <a:spcAft>
                <a:spcPts val="1000"/>
              </a:spcAft>
              <a:defRPr sz="1600">
                <a:solidFill>
                  <a:srgbClr val="191E22"/>
                </a:solidFill>
                <a:latin typeface="Aptos"/>
              </a:defRPr>
            </a:pPr>
            <a:r>
              <a:t>• [New model / feature / experiment]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75488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5C686E"/>
                </a:solidFill>
                <a:latin typeface="Aptos"/>
              </a:rPr>
              <a:t>Research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047488"/>
            <a:ext cx="43891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63238"/>
                </a:solidFill>
                <a:latin typeface="Aptos"/>
              </a:rPr>
              <a:t>[One memorable sentence]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238"/>
          </a:solidFill>
          <a:ln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114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26B21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8046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46120"/>
            <a:ext cx="50292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D7DEE1"/>
                </a:solidFill>
                <a:latin typeface="Aptos"/>
              </a:rPr>
              <a:t>[Presenting Author Name]
[Affiliation]
[Email]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57800"/>
            <a:ext cx="5486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26B21"/>
                </a:solidFill>
                <a:latin typeface="Aptos"/>
              </a:rPr>
              <a:t>AUTOCOM-26  •  22–24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074920"/>
            <a:ext cx="2926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50" b="0">
                <a:solidFill>
                  <a:srgbClr val="D7DEE1"/>
                </a:solidFill>
                <a:latin typeface="Aptos"/>
              </a:rPr>
              <a:t>Graphic Era Hill University
Dehradun, Uttarakhand, India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APPENDIX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32588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191E22"/>
                </a:solidFill>
                <a:latin typeface="Aptos"/>
              </a:rPr>
              <a:t>[1] Author(s), “Paper / Book / Standard Title,” Venue,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191E22"/>
                </a:solidFill>
                <a:latin typeface="Aptos"/>
              </a:rPr>
              <a:t>[2] Author(s), “Title,” Journal / Conference, vol., no., pp.,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191E22"/>
                </a:solidFill>
                <a:latin typeface="Aptos"/>
              </a:rPr>
              <a:t>[3] Dataset / Software / Web resource citation.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840480"/>
            <a:ext cx="6400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5C686E"/>
                </a:solidFill>
                <a:latin typeface="Aptos"/>
              </a:rPr>
              <a:t>Use the citation style required by your paper / publisher.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26B21"/>
          </a:solidFill>
          <a:ln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263238"/>
                </a:solidFill>
                <a:latin typeface="Aptos"/>
              </a:rPr>
              <a:t>Author Presentation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356616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F26B21"/>
                </a:solidFill>
                <a:latin typeface="Aptos"/>
              </a:rPr>
              <a:t>APPENDIX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932688"/>
            <a:ext cx="11045952" cy="0"/>
          </a:xfrm>
          <a:prstGeom prst="line">
            <a:avLst/>
          </a:prstGeom>
          <a:ln w="12700">
            <a:solidFill>
              <a:srgbClr val="DC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173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91E22"/>
                </a:solidFill>
                <a:latin typeface="Aptos"/>
              </a:defRPr>
            </a:pPr>
            <a:r>
              <a:t>• Replace every [placeholder] with your paper-specific content.</a:t>
            </a:r>
          </a:p>
          <a:p>
            <a:pPr>
              <a:spcAft>
                <a:spcPts val="1000"/>
              </a:spcAft>
              <a:defRPr sz="1700">
                <a:solidFill>
                  <a:srgbClr val="191E22"/>
                </a:solidFill>
                <a:latin typeface="Aptos"/>
              </a:defRPr>
            </a:pPr>
            <a:r>
              <a:t>• Use large, readable fonts and avoid dense paragraphs.</a:t>
            </a:r>
          </a:p>
          <a:p>
            <a:pPr>
              <a:spcAft>
                <a:spcPts val="1000"/>
              </a:spcAft>
              <a:defRPr sz="1700">
                <a:solidFill>
                  <a:srgbClr val="191E22"/>
                </a:solidFill>
                <a:latin typeface="Aptos"/>
              </a:defRPr>
            </a:pPr>
            <a:r>
              <a:t>• Prefer diagrams, figures, tables and concise bullet points.</a:t>
            </a:r>
          </a:p>
          <a:p>
            <a:pPr>
              <a:spcAft>
                <a:spcPts val="1000"/>
              </a:spcAft>
              <a:defRPr sz="1700">
                <a:solidFill>
                  <a:srgbClr val="191E22"/>
                </a:solidFill>
                <a:latin typeface="Aptos"/>
              </a:defRPr>
            </a:pPr>
            <a:r>
              <a:t>• Keep figures and tables clearly labelled with readable axes and legends.</a:t>
            </a:r>
          </a:p>
          <a:p>
            <a:pPr>
              <a:spcAft>
                <a:spcPts val="1000"/>
              </a:spcAft>
              <a:defRPr sz="1700">
                <a:solidFill>
                  <a:srgbClr val="191E22"/>
                </a:solidFill>
                <a:latin typeface="Aptos"/>
              </a:defRPr>
            </a:pPr>
            <a:r>
              <a:t>• Include your Paper ID on the title slide and retain it in the footer.</a:t>
            </a:r>
          </a:p>
          <a:p>
            <a:pPr>
              <a:spcAft>
                <a:spcPts val="1000"/>
              </a:spcAft>
              <a:defRPr sz="1700">
                <a:solidFill>
                  <a:srgbClr val="191E22"/>
                </a:solidFill>
                <a:latin typeface="Aptos"/>
              </a:defRPr>
            </a:pPr>
            <a:r>
              <a:t>• Follow the presentation time assigned in the official conference schedule.</a:t>
            </a:r>
          </a:p>
          <a:p>
            <a:pPr>
              <a:spcAft>
                <a:spcPts val="1000"/>
              </a:spcAft>
              <a:defRPr sz="1700">
                <a:solidFill>
                  <a:srgbClr val="191E22"/>
                </a:solidFill>
                <a:latin typeface="Aptos"/>
              </a:defRPr>
            </a:pPr>
            <a:r>
              <a:t>• Use this template as a base; additional slides may be added where necessary.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7840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5C686E"/>
                </a:solidFill>
                <a:latin typeface="Aptos"/>
              </a:rPr>
              <a:t>AUTOCOM-26  |  4th International Conference on Automation and Computation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647395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[Paper ID]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0">
                <a:solidFill>
                  <a:srgbClr val="5C686E"/>
                </a:solidFill>
                <a:latin typeface="Aptos"/>
              </a:rPr>
              <a:t>[Slide No.]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2022</TotalTime>
  <Words>859</Words>
  <Application>Microsoft Office PowerPoint</Application>
  <PresentationFormat>Widescreen</PresentationFormat>
  <Paragraphs>181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Vikrant Sharma</dc:creator>
  <cp:keywords/>
  <dc:description>generated using python-pptx</dc:description>
  <cp:lastModifiedBy>Dr. Vikrant Sharma</cp:lastModifiedBy>
  <cp:revision>2</cp:revision>
  <dcterms:created xsi:type="dcterms:W3CDTF">2013-01-27T09:14:16Z</dcterms:created>
  <dcterms:modified xsi:type="dcterms:W3CDTF">2026-10-02T19:52:14Z</dcterms:modified>
  <cp:category/>
</cp:coreProperties>
</file>